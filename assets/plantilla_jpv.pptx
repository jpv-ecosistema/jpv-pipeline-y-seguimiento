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324" r:id="rId7"/>
  </p:sldIdLst>
  <p:sldSz cx="12192000" cy="6858000"/>
  <p:notesSz cx="7104063" cy="10234613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ga Holmgren del Pino" initials="HHdP" lastIdx="14" clrIdx="0">
    <p:extLst>
      <p:ext uri="{19B8F6BF-5375-455C-9EA6-DF929625EA0E}">
        <p15:presenceInfo xmlns:p15="http://schemas.microsoft.com/office/powerpoint/2012/main" userId="S-1-5-21-1534090521-451240501-1307212239-10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FF"/>
    <a:srgbClr val="FF6B00"/>
    <a:srgbClr val="F47119"/>
    <a:srgbClr val="F8CBAD"/>
    <a:srgbClr val="02697B"/>
    <a:srgbClr val="263644"/>
    <a:srgbClr val="A8BBC5"/>
    <a:srgbClr val="FFB500"/>
    <a:srgbClr val="FFC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Estilo o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67" autoAdjust="0"/>
    <p:restoredTop sz="96786" autoAdjust="0"/>
  </p:normalViewPr>
  <p:slideViewPr>
    <p:cSldViewPr snapToObjects="1">
      <p:cViewPr varScale="1">
        <p:scale>
          <a:sx n="92" d="100"/>
          <a:sy n="92" d="100"/>
        </p:scale>
        <p:origin x="96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E206236-BFD1-AF40-B18F-15C399D96F99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FB15439-BDE4-F940-A6D9-9B74880B68E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35365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61EE47B-31D6-6E48-BD5C-79A0720C3439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47AD365-F9C5-BC43-B4DD-25D1FB3CF4D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827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7AD365-F9C5-BC43-B4DD-25D1FB3CF4DB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904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7AD365-F9C5-BC43-B4DD-25D1FB3CF4DB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62722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4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6140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63480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065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596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09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206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671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761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057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035704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C3F2A-A71A-4C45-85C9-97FB4231E4F5}" type="datetimeFigureOut">
              <a:rPr lang="es-ES_tradnl" smtClean="0"/>
              <a:t>27/08/2026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0E375-D6DB-2E44-9ECD-D991B6C57230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394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jpv-asociados.cl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EFB1E01-901C-C54B-BC31-B012887587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4" y="-99392"/>
            <a:ext cx="12192000" cy="705863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2759665-93BD-E549-821F-74AF3A02530B}"/>
              </a:ext>
            </a:extLst>
          </p:cNvPr>
          <p:cNvSpPr txBox="1"/>
          <p:nvPr/>
        </p:nvSpPr>
        <p:spPr>
          <a:xfrm>
            <a:off x="551383" y="1870953"/>
            <a:ext cx="10990705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RAMO TODO RIESGO CONSTRUCCIÓN</a:t>
            </a:r>
          </a:p>
          <a:p>
            <a:pPr algn="ctr"/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Conceptos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Generales</a:t>
            </a:r>
          </a:p>
          <a:p>
            <a:pPr algn="ctr"/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y</a:t>
            </a:r>
          </a:p>
          <a:p>
            <a:pPr algn="ctr"/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Mirada del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Liquidador</a:t>
            </a:r>
            <a:endParaRPr lang="en-US" sz="3200" b="1" dirty="0">
              <a:solidFill>
                <a:srgbClr val="FF6B00"/>
              </a:solidFill>
              <a:latin typeface="Arial Black" panose="020B0604020202020204" pitchFamily="34" charset="0"/>
              <a:ea typeface="Franklin Gothic Demi Cond" charset="0"/>
              <a:cs typeface="Arial Black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Basada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en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nuestra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experiencia</a:t>
            </a:r>
            <a:endParaRPr lang="en-US" sz="3200" b="1" dirty="0">
              <a:solidFill>
                <a:srgbClr val="FF6B00"/>
              </a:solidFill>
              <a:latin typeface="Arial Black" panose="020B0604020202020204" pitchFamily="34" charset="0"/>
              <a:ea typeface="Franklin Gothic Demi Cond" charset="0"/>
              <a:cs typeface="Arial Black" panose="020B0604020202020204" pitchFamily="34" charset="0"/>
            </a:endParaRPr>
          </a:p>
          <a:p>
            <a:pPr algn="ctr"/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en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el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manejo</a:t>
            </a:r>
            <a:r>
              <a:rPr lang="en-US" sz="3200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siniestros</a:t>
            </a:r>
            <a:endParaRPr lang="en-US" sz="3200" dirty="0">
              <a:solidFill>
                <a:srgbClr val="FF6B00"/>
              </a:solidFill>
              <a:latin typeface="Arial Black" panose="020B0604020202020204" pitchFamily="34" charset="0"/>
              <a:ea typeface="Franklin Gothic Demi Cond" charset="0"/>
              <a:cs typeface="Arial Black" panose="020B0604020202020204" pitchFamily="34" charset="0"/>
            </a:endParaRPr>
          </a:p>
        </p:txBody>
      </p:sp>
      <p:grpSp>
        <p:nvGrpSpPr>
          <p:cNvPr id="12" name="Grupo 6"/>
          <p:cNvGrpSpPr>
            <a:grpSpLocks/>
          </p:cNvGrpSpPr>
          <p:nvPr/>
        </p:nvGrpSpPr>
        <p:grpSpPr bwMode="auto">
          <a:xfrm>
            <a:off x="444834" y="260648"/>
            <a:ext cx="3744913" cy="576262"/>
            <a:chOff x="7248128" y="867699"/>
            <a:chExt cx="3744416" cy="576064"/>
          </a:xfrm>
        </p:grpSpPr>
        <p:grpSp>
          <p:nvGrpSpPr>
            <p:cNvPr id="13" name="Grupo 4"/>
            <p:cNvGrpSpPr>
              <a:grpSpLocks/>
            </p:cNvGrpSpPr>
            <p:nvPr/>
          </p:nvGrpSpPr>
          <p:grpSpPr bwMode="auto">
            <a:xfrm>
              <a:off x="9192344" y="943247"/>
              <a:ext cx="1656184" cy="397521"/>
              <a:chOff x="4511824" y="1247232"/>
              <a:chExt cx="4128760" cy="1008112"/>
            </a:xfrm>
          </p:grpSpPr>
          <p:pic>
            <p:nvPicPr>
              <p:cNvPr id="16" name="Imagen 1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1429" r="21072" b="29126"/>
              <a:stretch>
                <a:fillRect/>
              </a:stretch>
            </p:blipFill>
            <p:spPr bwMode="auto">
              <a:xfrm>
                <a:off x="4511824" y="1247232"/>
                <a:ext cx="1045449" cy="1008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" name="Imagen 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71124"/>
              <a:stretch>
                <a:fillRect/>
              </a:stretch>
            </p:blipFill>
            <p:spPr bwMode="auto">
              <a:xfrm>
                <a:off x="5653538" y="1355244"/>
                <a:ext cx="2987046" cy="7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4" name="Imagen 14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4091" t="81677"/>
            <a:stretch>
              <a:fillRect/>
            </a:stretch>
          </p:blipFill>
          <p:spPr bwMode="auto">
            <a:xfrm>
              <a:off x="9884702" y="1268760"/>
              <a:ext cx="1107842" cy="13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Imagen 15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4286"/>
            <a:stretch>
              <a:fillRect/>
            </a:stretch>
          </p:blipFill>
          <p:spPr bwMode="auto">
            <a:xfrm>
              <a:off x="7248128" y="867699"/>
              <a:ext cx="1872208" cy="57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9"/>
          <p:cNvGrpSpPr>
            <a:grpSpLocks noChangeAspect="1"/>
          </p:cNvGrpSpPr>
          <p:nvPr/>
        </p:nvGrpSpPr>
        <p:grpSpPr bwMode="auto">
          <a:xfrm>
            <a:off x="8904312" y="4653136"/>
            <a:ext cx="1293893" cy="1800200"/>
            <a:chOff x="5201" y="1611"/>
            <a:chExt cx="1058" cy="1472"/>
          </a:xfrm>
        </p:grpSpPr>
        <p:sp>
          <p:nvSpPr>
            <p:cNvPr id="9" name="AutoShape 8"/>
            <p:cNvSpPr>
              <a:spLocks noChangeAspect="1" noChangeArrowheads="1" noTextEdit="1"/>
            </p:cNvSpPr>
            <p:nvPr/>
          </p:nvSpPr>
          <p:spPr bwMode="auto">
            <a:xfrm>
              <a:off x="5201" y="1616"/>
              <a:ext cx="1043" cy="1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0" name="Freeform 10"/>
            <p:cNvSpPr>
              <a:spLocks/>
            </p:cNvSpPr>
            <p:nvPr/>
          </p:nvSpPr>
          <p:spPr bwMode="auto">
            <a:xfrm>
              <a:off x="5916" y="2081"/>
              <a:ext cx="343" cy="1002"/>
            </a:xfrm>
            <a:custGeom>
              <a:avLst/>
              <a:gdLst>
                <a:gd name="T0" fmla="*/ 21 w 366"/>
                <a:gd name="T1" fmla="*/ 1076 h 1076"/>
                <a:gd name="T2" fmla="*/ 21 w 366"/>
                <a:gd name="T3" fmla="*/ 1076 h 1076"/>
                <a:gd name="T4" fmla="*/ 0 w 366"/>
                <a:gd name="T5" fmla="*/ 1076 h 1076"/>
                <a:gd name="T6" fmla="*/ 0 w 366"/>
                <a:gd name="T7" fmla="*/ 982 h 1076"/>
                <a:gd name="T8" fmla="*/ 21 w 366"/>
                <a:gd name="T9" fmla="*/ 982 h 1076"/>
                <a:gd name="T10" fmla="*/ 125 w 366"/>
                <a:gd name="T11" fmla="*/ 965 h 1076"/>
                <a:gd name="T12" fmla="*/ 199 w 366"/>
                <a:gd name="T13" fmla="*/ 919 h 1076"/>
                <a:gd name="T14" fmla="*/ 250 w 366"/>
                <a:gd name="T15" fmla="*/ 851 h 1076"/>
                <a:gd name="T16" fmla="*/ 269 w 366"/>
                <a:gd name="T17" fmla="*/ 769 h 1076"/>
                <a:gd name="T18" fmla="*/ 269 w 366"/>
                <a:gd name="T19" fmla="*/ 0 h 1076"/>
                <a:gd name="T20" fmla="*/ 366 w 366"/>
                <a:gd name="T21" fmla="*/ 0 h 1076"/>
                <a:gd name="T22" fmla="*/ 366 w 366"/>
                <a:gd name="T23" fmla="*/ 768 h 1076"/>
                <a:gd name="T24" fmla="*/ 340 w 366"/>
                <a:gd name="T25" fmla="*/ 889 h 1076"/>
                <a:gd name="T26" fmla="*/ 268 w 366"/>
                <a:gd name="T27" fmla="*/ 987 h 1076"/>
                <a:gd name="T28" fmla="*/ 162 w 366"/>
                <a:gd name="T29" fmla="*/ 1052 h 1076"/>
                <a:gd name="T30" fmla="*/ 21 w 366"/>
                <a:gd name="T31" fmla="*/ 1076 h 1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6" h="1076">
                  <a:moveTo>
                    <a:pt x="21" y="1076"/>
                  </a:moveTo>
                  <a:lnTo>
                    <a:pt x="21" y="1076"/>
                  </a:lnTo>
                  <a:lnTo>
                    <a:pt x="0" y="1076"/>
                  </a:lnTo>
                  <a:lnTo>
                    <a:pt x="0" y="982"/>
                  </a:lnTo>
                  <a:lnTo>
                    <a:pt x="21" y="982"/>
                  </a:lnTo>
                  <a:cubicBezTo>
                    <a:pt x="61" y="982"/>
                    <a:pt x="96" y="976"/>
                    <a:pt x="125" y="965"/>
                  </a:cubicBezTo>
                  <a:cubicBezTo>
                    <a:pt x="153" y="954"/>
                    <a:pt x="179" y="938"/>
                    <a:pt x="199" y="919"/>
                  </a:cubicBezTo>
                  <a:cubicBezTo>
                    <a:pt x="220" y="900"/>
                    <a:pt x="237" y="877"/>
                    <a:pt x="250" y="851"/>
                  </a:cubicBezTo>
                  <a:cubicBezTo>
                    <a:pt x="262" y="825"/>
                    <a:pt x="269" y="797"/>
                    <a:pt x="269" y="769"/>
                  </a:cubicBezTo>
                  <a:lnTo>
                    <a:pt x="269" y="0"/>
                  </a:lnTo>
                  <a:lnTo>
                    <a:pt x="366" y="0"/>
                  </a:lnTo>
                  <a:lnTo>
                    <a:pt x="366" y="768"/>
                  </a:lnTo>
                  <a:cubicBezTo>
                    <a:pt x="366" y="811"/>
                    <a:pt x="357" y="851"/>
                    <a:pt x="340" y="889"/>
                  </a:cubicBezTo>
                  <a:cubicBezTo>
                    <a:pt x="322" y="926"/>
                    <a:pt x="298" y="960"/>
                    <a:pt x="268" y="987"/>
                  </a:cubicBezTo>
                  <a:cubicBezTo>
                    <a:pt x="237" y="1015"/>
                    <a:pt x="202" y="1036"/>
                    <a:pt x="162" y="1052"/>
                  </a:cubicBezTo>
                  <a:cubicBezTo>
                    <a:pt x="122" y="1068"/>
                    <a:pt x="74" y="1076"/>
                    <a:pt x="21" y="107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rgbClr val="F4711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auto">
            <a:xfrm>
              <a:off x="5201" y="1611"/>
              <a:ext cx="343" cy="1001"/>
            </a:xfrm>
            <a:custGeom>
              <a:avLst/>
              <a:gdLst>
                <a:gd name="T0" fmla="*/ 345 w 366"/>
                <a:gd name="T1" fmla="*/ 0 h 1074"/>
                <a:gd name="T2" fmla="*/ 345 w 366"/>
                <a:gd name="T3" fmla="*/ 0 h 1074"/>
                <a:gd name="T4" fmla="*/ 366 w 366"/>
                <a:gd name="T5" fmla="*/ 0 h 1074"/>
                <a:gd name="T6" fmla="*/ 366 w 366"/>
                <a:gd name="T7" fmla="*/ 92 h 1074"/>
                <a:gd name="T8" fmla="*/ 345 w 366"/>
                <a:gd name="T9" fmla="*/ 92 h 1074"/>
                <a:gd name="T10" fmla="*/ 241 w 366"/>
                <a:gd name="T11" fmla="*/ 109 h 1074"/>
                <a:gd name="T12" fmla="*/ 166 w 366"/>
                <a:gd name="T13" fmla="*/ 155 h 1074"/>
                <a:gd name="T14" fmla="*/ 116 w 366"/>
                <a:gd name="T15" fmla="*/ 224 h 1074"/>
                <a:gd name="T16" fmla="*/ 97 w 366"/>
                <a:gd name="T17" fmla="*/ 306 h 1074"/>
                <a:gd name="T18" fmla="*/ 97 w 366"/>
                <a:gd name="T19" fmla="*/ 1074 h 1074"/>
                <a:gd name="T20" fmla="*/ 0 w 366"/>
                <a:gd name="T21" fmla="*/ 1074 h 1074"/>
                <a:gd name="T22" fmla="*/ 0 w 366"/>
                <a:gd name="T23" fmla="*/ 306 h 1074"/>
                <a:gd name="T24" fmla="*/ 26 w 366"/>
                <a:gd name="T25" fmla="*/ 185 h 1074"/>
                <a:gd name="T26" fmla="*/ 98 w 366"/>
                <a:gd name="T27" fmla="*/ 87 h 1074"/>
                <a:gd name="T28" fmla="*/ 204 w 366"/>
                <a:gd name="T29" fmla="*/ 22 h 1074"/>
                <a:gd name="T30" fmla="*/ 345 w 366"/>
                <a:gd name="T31" fmla="*/ 0 h 1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66" h="1074">
                  <a:moveTo>
                    <a:pt x="345" y="0"/>
                  </a:moveTo>
                  <a:lnTo>
                    <a:pt x="345" y="0"/>
                  </a:lnTo>
                  <a:lnTo>
                    <a:pt x="366" y="0"/>
                  </a:lnTo>
                  <a:lnTo>
                    <a:pt x="366" y="92"/>
                  </a:lnTo>
                  <a:lnTo>
                    <a:pt x="345" y="92"/>
                  </a:lnTo>
                  <a:cubicBezTo>
                    <a:pt x="304" y="92"/>
                    <a:pt x="270" y="98"/>
                    <a:pt x="241" y="109"/>
                  </a:cubicBezTo>
                  <a:cubicBezTo>
                    <a:pt x="212" y="120"/>
                    <a:pt x="187" y="136"/>
                    <a:pt x="166" y="155"/>
                  </a:cubicBezTo>
                  <a:cubicBezTo>
                    <a:pt x="145" y="174"/>
                    <a:pt x="128" y="198"/>
                    <a:pt x="116" y="224"/>
                  </a:cubicBezTo>
                  <a:cubicBezTo>
                    <a:pt x="103" y="250"/>
                    <a:pt x="97" y="277"/>
                    <a:pt x="97" y="306"/>
                  </a:cubicBezTo>
                  <a:lnTo>
                    <a:pt x="97" y="1074"/>
                  </a:lnTo>
                  <a:lnTo>
                    <a:pt x="0" y="1074"/>
                  </a:lnTo>
                  <a:lnTo>
                    <a:pt x="0" y="306"/>
                  </a:lnTo>
                  <a:cubicBezTo>
                    <a:pt x="0" y="264"/>
                    <a:pt x="8" y="223"/>
                    <a:pt x="26" y="185"/>
                  </a:cubicBezTo>
                  <a:cubicBezTo>
                    <a:pt x="43" y="148"/>
                    <a:pt x="68" y="115"/>
                    <a:pt x="98" y="87"/>
                  </a:cubicBezTo>
                  <a:cubicBezTo>
                    <a:pt x="128" y="60"/>
                    <a:pt x="164" y="38"/>
                    <a:pt x="204" y="22"/>
                  </a:cubicBezTo>
                  <a:cubicBezTo>
                    <a:pt x="244" y="7"/>
                    <a:pt x="291" y="0"/>
                    <a:pt x="345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solidFill>
                <a:srgbClr val="F4711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CL">
                <a:solidFill>
                  <a:srgbClr val="F47119"/>
                </a:solidFill>
              </a:endParaRPr>
            </a:p>
          </p:txBody>
        </p:sp>
      </p:grpSp>
      <p:sp>
        <p:nvSpPr>
          <p:cNvPr id="2" name="CuadroTexto 1"/>
          <p:cNvSpPr txBox="1"/>
          <p:nvPr/>
        </p:nvSpPr>
        <p:spPr>
          <a:xfrm>
            <a:off x="623392" y="6237312"/>
            <a:ext cx="2707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6B00"/>
                </a:solidFill>
                <a:latin typeface="Arial Black" panose="020B0604020202020204" pitchFamily="34" charset="0"/>
                <a:ea typeface="Franklin Gothic Demi Cond" charset="0"/>
                <a:cs typeface="Arial Black" panose="020B0604020202020204" pitchFamily="34" charset="0"/>
              </a:rPr>
              <a:t>14 de mayo de 2026</a:t>
            </a:r>
            <a:endParaRPr lang="es-C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63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3E555CA0-B8C2-8B4C-A857-E5E3D24EFF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3644"/>
          </a:solidFill>
          <a:ln>
            <a:solidFill>
              <a:srgbClr val="2636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55">
            <a:extLst>
              <a:ext uri="{FF2B5EF4-FFF2-40B4-BE49-F238E27FC236}">
                <a16:creationId xmlns:a16="http://schemas.microsoft.com/office/drawing/2014/main" id="{64D18CA9-8FCF-2842-9E6A-528F56CC235D}"/>
              </a:ext>
            </a:extLst>
          </p:cNvPr>
          <p:cNvSpPr txBox="1"/>
          <p:nvPr/>
        </p:nvSpPr>
        <p:spPr>
          <a:xfrm>
            <a:off x="3142374" y="5523930"/>
            <a:ext cx="3169649" cy="846343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Av. Am</a:t>
            </a:r>
            <a:r>
              <a:rPr lang="es-ES_tradnl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érico Vespucio Sur</a:t>
            </a: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 80</a:t>
            </a:r>
          </a:p>
          <a:p>
            <a:r>
              <a:rPr lang="en-US" sz="1300" dirty="0" err="1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Piso</a:t>
            </a: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 6, Las Condes, Santiago. Chile</a:t>
            </a:r>
          </a:p>
          <a:p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CP: 7580150</a:t>
            </a:r>
          </a:p>
        </p:txBody>
      </p:sp>
      <p:sp>
        <p:nvSpPr>
          <p:cNvPr id="11" name="TextBox 56">
            <a:extLst>
              <a:ext uri="{FF2B5EF4-FFF2-40B4-BE49-F238E27FC236}">
                <a16:creationId xmlns:a16="http://schemas.microsoft.com/office/drawing/2014/main" id="{AF21CA1C-2901-AC40-B662-740BF0AB5EE4}"/>
              </a:ext>
            </a:extLst>
          </p:cNvPr>
          <p:cNvSpPr txBox="1"/>
          <p:nvPr/>
        </p:nvSpPr>
        <p:spPr>
          <a:xfrm>
            <a:off x="8841970" y="5631652"/>
            <a:ext cx="2582622" cy="646288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r>
              <a:rPr lang="en-US" sz="1300" dirty="0" err="1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contacto@jpv-asociados.cl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ea typeface="Franklin Gothic Book" charset="0"/>
              <a:cs typeface="Arial" panose="020B0604020202020204" pitchFamily="34" charset="0"/>
            </a:endParaRPr>
          </a:p>
          <a:p>
            <a:r>
              <a:rPr lang="en-US" sz="1300" dirty="0" err="1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siniestros@jpv-asociados.cl</a:t>
            </a:r>
            <a:endParaRPr lang="en-US" sz="1300" dirty="0">
              <a:solidFill>
                <a:schemeClr val="bg1"/>
              </a:solidFill>
              <a:latin typeface="Arial" panose="020B0604020202020204" pitchFamily="34" charset="0"/>
              <a:ea typeface="Franklin Gothic Book" charset="0"/>
              <a:cs typeface="Arial" panose="020B0604020202020204" pitchFamily="34" charset="0"/>
            </a:endParaRPr>
          </a:p>
        </p:txBody>
      </p:sp>
      <p:sp>
        <p:nvSpPr>
          <p:cNvPr id="12" name="TextBox 56">
            <a:extLst>
              <a:ext uri="{FF2B5EF4-FFF2-40B4-BE49-F238E27FC236}">
                <a16:creationId xmlns:a16="http://schemas.microsoft.com/office/drawing/2014/main" id="{82F89B98-014B-5144-ACA1-ABD8130CCC80}"/>
              </a:ext>
            </a:extLst>
          </p:cNvPr>
          <p:cNvSpPr txBox="1"/>
          <p:nvPr/>
        </p:nvSpPr>
        <p:spPr>
          <a:xfrm>
            <a:off x="6680012" y="5631652"/>
            <a:ext cx="1720664" cy="646288"/>
          </a:xfrm>
          <a:prstGeom prst="rect">
            <a:avLst/>
          </a:prstGeom>
          <a:noFill/>
        </p:spPr>
        <p:txBody>
          <a:bodyPr wrap="square" lIns="243797" tIns="121899" rIns="243797" bIns="121899" rtlCol="0">
            <a:spAutoFit/>
          </a:bodyPr>
          <a:lstStyle/>
          <a:p>
            <a:r>
              <a:rPr lang="is-I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(56-2) 29246900</a:t>
            </a:r>
          </a:p>
          <a:p>
            <a:r>
              <a:rPr lang="is-IS" sz="1300" dirty="0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(56-2) 29246941</a:t>
            </a:r>
          </a:p>
        </p:txBody>
      </p:sp>
      <p:sp>
        <p:nvSpPr>
          <p:cNvPr id="13" name="Rectángulo 12">
            <a:hlinkClick r:id="rId3"/>
            <a:extLst>
              <a:ext uri="{FF2B5EF4-FFF2-40B4-BE49-F238E27FC236}">
                <a16:creationId xmlns:a16="http://schemas.microsoft.com/office/drawing/2014/main" id="{8608E3FE-0E13-1944-B4B8-299543B6ECFD}"/>
              </a:ext>
            </a:extLst>
          </p:cNvPr>
          <p:cNvSpPr/>
          <p:nvPr/>
        </p:nvSpPr>
        <p:spPr>
          <a:xfrm>
            <a:off x="983432" y="5816297"/>
            <a:ext cx="1770485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1300" dirty="0" err="1">
                <a:solidFill>
                  <a:schemeClr val="bg1"/>
                </a:solidFill>
                <a:latin typeface="Arial" panose="020B0604020202020204" pitchFamily="34" charset="0"/>
                <a:ea typeface="Franklin Gothic Book" charset="0"/>
                <a:cs typeface="Arial" panose="020B0604020202020204" pitchFamily="34" charset="0"/>
              </a:rPr>
              <a:t>www.jpv-asociados.cl</a:t>
            </a:r>
            <a:endParaRPr lang="es-ES_tradnl" sz="1300" dirty="0">
              <a:solidFill>
                <a:schemeClr val="bg1"/>
              </a:solidFill>
              <a:latin typeface="Arial" panose="020B0604020202020204" pitchFamily="34" charset="0"/>
              <a:ea typeface="Franklin Gothic Book" charset="0"/>
              <a:cs typeface="Arial" panose="020B0604020202020204" pitchFamily="34" charset="0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21C109-7859-8346-B484-C59CA16517A2}"/>
              </a:ext>
            </a:extLst>
          </p:cNvPr>
          <p:cNvCxnSpPr/>
          <p:nvPr/>
        </p:nvCxnSpPr>
        <p:spPr>
          <a:xfrm>
            <a:off x="2999656" y="5631652"/>
            <a:ext cx="0" cy="677066"/>
          </a:xfrm>
          <a:prstGeom prst="line">
            <a:avLst/>
          </a:prstGeom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652FD1A-462E-4B47-B474-70995A79C183}"/>
              </a:ext>
            </a:extLst>
          </p:cNvPr>
          <p:cNvCxnSpPr/>
          <p:nvPr/>
        </p:nvCxnSpPr>
        <p:spPr>
          <a:xfrm>
            <a:off x="6428656" y="5631652"/>
            <a:ext cx="0" cy="677066"/>
          </a:xfrm>
          <a:prstGeom prst="line">
            <a:avLst/>
          </a:prstGeom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51C4D45-7C4A-B740-AE4A-E7872BCD0F7B}"/>
              </a:ext>
            </a:extLst>
          </p:cNvPr>
          <p:cNvCxnSpPr/>
          <p:nvPr/>
        </p:nvCxnSpPr>
        <p:spPr>
          <a:xfrm>
            <a:off x="8616684" y="5631652"/>
            <a:ext cx="0" cy="677066"/>
          </a:xfrm>
          <a:prstGeom prst="line">
            <a:avLst/>
          </a:prstGeom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6"/>
          <p:cNvGrpSpPr>
            <a:grpSpLocks/>
          </p:cNvGrpSpPr>
          <p:nvPr/>
        </p:nvGrpSpPr>
        <p:grpSpPr bwMode="auto">
          <a:xfrm>
            <a:off x="4627100" y="2852738"/>
            <a:ext cx="3744913" cy="576262"/>
            <a:chOff x="7248128" y="867699"/>
            <a:chExt cx="3744416" cy="576064"/>
          </a:xfrm>
        </p:grpSpPr>
        <p:grpSp>
          <p:nvGrpSpPr>
            <p:cNvPr id="15" name="Grupo 4"/>
            <p:cNvGrpSpPr>
              <a:grpSpLocks/>
            </p:cNvGrpSpPr>
            <p:nvPr/>
          </p:nvGrpSpPr>
          <p:grpSpPr bwMode="auto">
            <a:xfrm>
              <a:off x="9192344" y="943247"/>
              <a:ext cx="1656184" cy="397521"/>
              <a:chOff x="4511824" y="1247232"/>
              <a:chExt cx="4128760" cy="1008112"/>
            </a:xfrm>
          </p:grpSpPr>
          <p:pic>
            <p:nvPicPr>
              <p:cNvPr id="20" name="Imagen 1"/>
              <p:cNvPicPr>
                <a:picLocks noChangeAspect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1429" r="21072" b="29126"/>
              <a:stretch>
                <a:fillRect/>
              </a:stretch>
            </p:blipFill>
            <p:spPr bwMode="auto">
              <a:xfrm>
                <a:off x="4511824" y="1247232"/>
                <a:ext cx="1045449" cy="1008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Imagen 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71124"/>
              <a:stretch>
                <a:fillRect/>
              </a:stretch>
            </p:blipFill>
            <p:spPr bwMode="auto">
              <a:xfrm>
                <a:off x="5653538" y="1355244"/>
                <a:ext cx="2987046" cy="792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Imagen 14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4091" t="81677"/>
            <a:stretch>
              <a:fillRect/>
            </a:stretch>
          </p:blipFill>
          <p:spPr bwMode="auto">
            <a:xfrm>
              <a:off x="9884702" y="1268760"/>
              <a:ext cx="1107842" cy="134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Imagen 15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4286"/>
            <a:stretch>
              <a:fillRect/>
            </a:stretch>
          </p:blipFill>
          <p:spPr bwMode="auto">
            <a:xfrm>
              <a:off x="7248128" y="867699"/>
              <a:ext cx="1872208" cy="57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96628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3f6721-644e-4c81-b1b7-c17ec266b3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74EBC3F3820840826A6142E932D62A" ma:contentTypeVersion="18" ma:contentTypeDescription="Crear nuevo documento." ma:contentTypeScope="" ma:versionID="7f1f538d799e151901b7c7ae4669dfca">
  <xsd:schema xmlns:xsd="http://www.w3.org/2001/XMLSchema" xmlns:xs="http://www.w3.org/2001/XMLSchema" xmlns:p="http://schemas.microsoft.com/office/2006/metadata/properties" xmlns:ns3="d03f6721-644e-4c81-b1b7-c17ec266b3b2" xmlns:ns4="bfa6781f-aefe-4e75-ab1a-9c324993b533" targetNamespace="http://schemas.microsoft.com/office/2006/metadata/properties" ma:root="true" ma:fieldsID="ce95776572c0564e2dd564c4328e53ae" ns3:_="" ns4:_="">
    <xsd:import namespace="d03f6721-644e-4c81-b1b7-c17ec266b3b2"/>
    <xsd:import namespace="bfa6781f-aefe-4e75-ab1a-9c324993b53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f6721-644e-4c81-b1b7-c17ec266b3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a6781f-aefe-4e75-ab1a-9c324993b53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384016-E46F-4061-83D7-FEA6972A46C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E36843-A69B-4EB4-86CE-5D93BC84E7E2}">
  <ds:schemaRefs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d03f6721-644e-4c81-b1b7-c17ec266b3b2"/>
    <ds:schemaRef ds:uri="bfa6781f-aefe-4e75-ab1a-9c324993b53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60794BB-0FD3-40E4-B76B-8021F0EAB5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3f6721-644e-4c81-b1b7-c17ec266b3b2"/>
    <ds:schemaRef ds:uri="bfa6781f-aefe-4e75-ab1a-9c324993b5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29398</TotalTime>
  <Words>93</Words>
  <Application>Microsoft Office PowerPoint</Application>
  <PresentationFormat>Panorámica</PresentationFormat>
  <Paragraphs>21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TRC</dc:title>
  <dc:creator>JPV Asociados</dc:creator>
  <cp:keywords>Presentacion TRC</cp:keywords>
  <cp:lastModifiedBy>Dagoberto  Perez</cp:lastModifiedBy>
  <cp:revision>1578</cp:revision>
  <cp:lastPrinted>2026-04-10T15:19:29Z</cp:lastPrinted>
  <dcterms:created xsi:type="dcterms:W3CDTF">2016-10-13T18:36:15Z</dcterms:created>
  <dcterms:modified xsi:type="dcterms:W3CDTF">2026-08-27T16:54:41Z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0x0101004874EBC3F3820840826A6142E932D62A</vt:lpwstr>
  </property>
</Properties>
</file>